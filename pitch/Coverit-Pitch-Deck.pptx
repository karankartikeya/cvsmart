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2376" y="1417320"/>
            <a:ext cx="1371600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04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100" b="1" i="0">
                <a:solidFill>
                  <a:srgbClr val="F4674C"/>
                </a:solidFill>
                <a:latin typeface="Helvetica Neue"/>
              </a:rPr>
              <a:t>Pre-seed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10746943" cy="1005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1A1614"/>
                </a:solidFill>
                <a:latin typeface="Helvetica Neue"/>
              </a:rPr>
              <a:t>CV </a:t>
            </a:r>
            <a:r>
              <a:rPr sz="7600" b="1" i="0">
                <a:solidFill>
                  <a:srgbClr val="F4674C"/>
                </a:solidFill>
                <a:latin typeface="Helvetica Neue"/>
              </a:rPr>
              <a:t>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12724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200" b="0" i="0">
                <a:solidFill>
                  <a:srgbClr val="6B625C"/>
                </a:solidFill>
                <a:latin typeface="Helvetica Neue"/>
              </a:rPr>
              <a:t>Cover letters written from the real job posting,
not from a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4805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1" i="0">
                <a:solidFill>
                  <a:srgbClr val="1A1614"/>
                </a:solidFill>
                <a:latin typeface="Helvetica Neue"/>
              </a:rPr>
              <a:t>coveritt.vercel.app</a:t>
            </a:r>
            <a:r>
              <a:rPr sz="1300" b="0" i="0">
                <a:solidFill>
                  <a:srgbClr val="9A918B"/>
                </a:solidFill>
                <a:latin typeface="Helvetica Neue"/>
              </a:rPr>
              <a:t>  ·  live, deployed, no account required</a:t>
            </a:r>
          </a:p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0" i="0">
                <a:solidFill>
                  <a:srgbClr val="9A918B"/>
                </a:solidFill>
                <a:latin typeface="Helvetica Neue"/>
              </a:rPr>
              <a:t>Built on Bright Data · Into the Scrape-Verse (WeMakeDevs × Bright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Applying to ten jobs means writing ten cover letters.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So people paste the ad into ChatGPT. That produces a letter that reads like ChatGPT wrote it: the same three-paragraph shape, the same "I am writing to express my enthusiasm", and an increasingly detectable statistical fingerprint that applicant tracking systems now screen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3063240"/>
            <a:ext cx="3423818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32644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LETTERS PER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04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10×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4050029"/>
            <a:ext cx="3021482" cy="5951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Every posting wants a letter that cites that posting. The work scales linearly with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3063240"/>
            <a:ext cx="3423818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106" y="32644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WHAT THE SHORTCUT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35204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06" y="4050029"/>
            <a:ext cx="3021482" cy="5951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A chatbot only sees what you pasted. Miss a detail from the ad, and the letter is filler.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5500" y="3063240"/>
            <a:ext cx="3423818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6668" y="32644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THE NEW FAILURE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6668" y="35204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Flagged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6668" y="4050029"/>
            <a:ext cx="3021482" cy="5951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ATS-side AI detection turns the shortcut into a liability, not just a weak letter.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5138928"/>
            <a:ext cx="31750" cy="566928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138928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But the writing is the easy half. The hard half is acquiring the job posting reliably, as structured data, from a page built for human eyes and redesigned without notice. That acquisition problem is what this company is built around.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Upload a CV. Paste job links. Get one letter per posting.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28800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Each letter is drafted from the actual scraped job ad and your real resume, in the posting's own language, and downloads as a formal PDF laid out to the German DIN 5008 letter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697480"/>
            <a:ext cx="204825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8803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CV + job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1729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9A918B"/>
                </a:solidFill>
                <a:latin typeface="Helvetica Neue"/>
              </a:rPr>
              <a:t>No account, no payment, no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318211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9A918B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6664" y="2697480"/>
            <a:ext cx="204825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28803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Collector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31729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9A918B"/>
                </a:solidFill>
                <a:latin typeface="Helvetica Neue"/>
              </a:rPr>
              <a:t>Picks a scrape path per URL, runs them concurrently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318211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9A918B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0952" y="2697480"/>
            <a:ext cx="204825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8803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Structured JobPosting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1729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9A918B"/>
                </a:solidFill>
                <a:latin typeface="Helvetica Neue"/>
              </a:rPr>
              <a:t>Title, company, seniority, location, duties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8211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9A918B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697480"/>
            <a:ext cx="204825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28803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Letter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31729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9A918B"/>
                </a:solidFill>
                <a:latin typeface="Helvetica Neue"/>
              </a:rPr>
              <a:t>LLM in JSON mode, language-matched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3182112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9A918B"/>
                </a:solidFill>
                <a:latin typeface="Helvetica Neue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528" y="2697480"/>
            <a:ext cx="2048256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9256" y="28803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DIN 5008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9256" y="31729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9A918B"/>
                </a:solidFill>
                <a:latin typeface="Helvetica Neue"/>
              </a:rPr>
              <a:t>Single file, or ZIP for a batch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4343400"/>
            <a:ext cx="3423818" cy="155448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5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544568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Grounded, not generic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855464"/>
            <a:ext cx="3021482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The prompt must cite a named responsibility from the posting and a real project or role from the CV. No filler claims.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3938" y="4343400"/>
            <a:ext cx="3423818" cy="155448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5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5106" y="4544568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Written to pass as 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06" y="4855464"/>
            <a:ext cx="3021482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No em dashes, no "thrilled to apply", no rule-of-three adjective stacks, deliberately varied sentence length.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5500" y="4343400"/>
            <a:ext cx="3423818" cy="155448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5E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6668" y="4544568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Correct by locale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6668" y="4855464"/>
            <a:ext cx="3021482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A German posting produces a German Anschreiben even from an English CV. That is the right behaviour, not a bug.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DEMO · 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5074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Three inputs, one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74519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i="0">
                <a:solidFill>
                  <a:srgbClr val="6B625C"/>
                </a:solidFill>
                <a:latin typeface="Helvetica Neue"/>
              </a:rPr>
              <a:t>Drag in a CV, paste the job links, hit generate. There is no onboarding, no signup wall and no pricing page in the way. The entire product is one page and a results modal.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2369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4837176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1" i="0">
                <a:solidFill>
                  <a:srgbClr val="1A1614"/>
                </a:solidFill>
                <a:latin typeface="Helvetica Neue"/>
              </a:rPr>
              <a:t>Any LinkedIn URL shape works</a:t>
            </a:r>
            <a:r>
              <a:rPr sz="1350" b="0" i="0">
                <a:solidFill>
                  <a:srgbClr val="6B625C"/>
                </a:solidFill>
                <a:latin typeface="Helvetica Neue"/>
              </a:rPr>
              <a:t> — including the messy one from your address bar with the job id buried in a query 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9502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67912"/>
            <a:ext cx="4837176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1" i="0">
                <a:solidFill>
                  <a:srgbClr val="1A1614"/>
                </a:solidFill>
                <a:latin typeface="Helvetica Neue"/>
              </a:rPr>
              <a:t>Several jobs at once</a:t>
            </a:r>
            <a:r>
              <a:rPr sz="1350" b="0" i="0">
                <a:solidFill>
                  <a:srgbClr val="6B625C"/>
                </a:solidFill>
                <a:latin typeface="Helvetica Neue"/>
              </a:rPr>
              <a:t> — scraped concurrently, bundled into a ZIP.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6634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81144"/>
            <a:ext cx="4837176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1" i="0">
                <a:solidFill>
                  <a:srgbClr val="1A1614"/>
                </a:solidFill>
                <a:latin typeface="Helvetica Neue"/>
              </a:rPr>
              <a:t>Letterhead auto-fills</a:t>
            </a:r>
            <a:r>
              <a:rPr sz="1350" b="0" i="0">
                <a:solidFill>
                  <a:srgbClr val="6B625C"/>
                </a:solidFill>
                <a:latin typeface="Helvetica Neue"/>
              </a:rPr>
              <a:t> — name, address, phone, email and LinkedIn are parsed out of the CV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5257800"/>
            <a:ext cx="31750" cy="512064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5257800"/>
            <a:ext cx="4946904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Live at coveritt.vercel.app — screenshot captured from production.</a:t>
            </a:r>
          </a:p>
        </p:txBody>
      </p:sp>
      <p:pic>
        <p:nvPicPr>
          <p:cNvPr id="14" name="Picture 13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79" y="1417320"/>
            <a:ext cx="5577840" cy="3486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DEMO · THE DIFFERENTIATOR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700" b="1" i="0">
                <a:solidFill>
                  <a:srgbClr val="1A1614"/>
                </a:solidFill>
                <a:latin typeface="Helvetica Neue"/>
              </a:rPr>
              <a:t>Every scrape reports what
it actually recovered.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395728"/>
            <a:ext cx="5074920" cy="7863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6B625C"/>
                </a:solidFill>
                <a:latin typeface="Helvetica Neue"/>
              </a:rPr>
              <a:t>Field by field, per run, in production. Note the status on these runs: partial — not a green checkmark. The postings listed no salary, so the run says 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3310128"/>
            <a:ext cx="5074920" cy="1691640"/>
          </a:xfrm>
          <a:prstGeom prst="roundRect">
            <a:avLst>
              <a:gd name="adj" fmla="val 7000"/>
            </a:avLst>
          </a:prstGeom>
          <a:solidFill>
            <a:srgbClr val="2A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3456432"/>
            <a:ext cx="4709160" cy="1399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9C8D82"/>
                </a:solidFill>
                <a:latin typeface="Menlo"/>
              </a:rPr>
              <a:t>// real, unedited production record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0E6DE"/>
                </a:solidFill>
                <a:latin typeface="Menlo"/>
              </a:rPr>
              <a:t>{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7A34B"/>
                </a:solidFill>
                <a:latin typeface="Menlo"/>
              </a:rPr>
              <a:t>  "collector_name"</a:t>
            </a:r>
            <a:r>
              <a:rPr sz="1050">
                <a:solidFill>
                  <a:srgbClr val="F0E6DE"/>
                </a:solidFill>
                <a:latin typeface="Menlo"/>
              </a:rPr>
              <a:t>: </a:t>
            </a:r>
            <a:r>
              <a:rPr sz="1050">
                <a:solidFill>
                  <a:srgbClr val="8FD6A0"/>
                </a:solidFill>
                <a:latin typeface="Menlo"/>
              </a:rPr>
              <a:t>"linkedin_job"</a:t>
            </a:r>
            <a:r>
              <a:rPr sz="1050">
                <a:solidFill>
                  <a:srgbClr val="F0E6DE"/>
                </a:solidFill>
                <a:latin typeface="Menlo"/>
              </a:rPr>
              <a:t>,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7A34B"/>
                </a:solidFill>
                <a:latin typeface="Menlo"/>
              </a:rPr>
              <a:t>  "status"</a:t>
            </a:r>
            <a:r>
              <a:rPr sz="1050">
                <a:solidFill>
                  <a:srgbClr val="F0E6DE"/>
                </a:solidFill>
                <a:latin typeface="Menlo"/>
              </a:rPr>
              <a:t>: </a:t>
            </a:r>
            <a:r>
              <a:rPr sz="1050">
                <a:solidFill>
                  <a:srgbClr val="FF8F7A"/>
                </a:solidFill>
                <a:latin typeface="Menlo"/>
              </a:rPr>
              <a:t>"partial"</a:t>
            </a:r>
            <a:r>
              <a:rPr sz="1050">
                <a:solidFill>
                  <a:srgbClr val="F0E6DE"/>
                </a:solidFill>
                <a:latin typeface="Menlo"/>
              </a:rPr>
              <a:t>,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7A34B"/>
                </a:solidFill>
                <a:latin typeface="Menlo"/>
              </a:rPr>
              <a:t>  "fields_missing"</a:t>
            </a:r>
            <a:r>
              <a:rPr sz="1050">
                <a:solidFill>
                  <a:srgbClr val="F0E6DE"/>
                </a:solidFill>
                <a:latin typeface="Menlo"/>
              </a:rPr>
              <a:t>: [</a:t>
            </a:r>
            <a:r>
              <a:rPr sz="1050">
                <a:solidFill>
                  <a:srgbClr val="8FD6A0"/>
                </a:solidFill>
                <a:latin typeface="Menlo"/>
              </a:rPr>
              <a:t>"salary"</a:t>
            </a:r>
            <a:r>
              <a:rPr sz="1050">
                <a:solidFill>
                  <a:srgbClr val="F0E6DE"/>
                </a:solidFill>
                <a:latin typeface="Menlo"/>
              </a:rPr>
              <a:t>],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7A34B"/>
                </a:solidFill>
                <a:latin typeface="Menlo"/>
              </a:rPr>
              <a:t>  "self_heal_events"</a:t>
            </a:r>
            <a:r>
              <a:rPr sz="1050">
                <a:solidFill>
                  <a:srgbClr val="F0E6DE"/>
                </a:solidFill>
                <a:latin typeface="Menlo"/>
              </a:rPr>
              <a:t>: []</a:t>
            </a:r>
          </a:p>
          <a:p>
            <a:pPr>
              <a:lnSpc>
                <a:spcPct val="150000"/>
              </a:lnSpc>
            </a:pPr>
            <a:r>
              <a:rPr sz="1050">
                <a:solidFill>
                  <a:srgbClr val="F0E6DE"/>
                </a:solidFill>
                <a:latin typeface="Menlo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5193792"/>
            <a:ext cx="31750" cy="640080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193792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A scraper that quietly degrades is worse than one that crashes, because the output still looks plausible. Naming the missing fields is how you tell the difference.</a:t>
            </a:r>
          </a:p>
        </p:txBody>
      </p:sp>
      <p:pic>
        <p:nvPicPr>
          <p:cNvPr id="10" name="Picture 9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79" y="1554480"/>
            <a:ext cx="5577840" cy="387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THE INSIGHT · WHY THIS IS DEFENSIBLE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1005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1A1614"/>
                </a:solidFill>
                <a:latin typeface="Helvetica Neue"/>
              </a:rPr>
              <a:t>A scraper that fails loudly is a bug report.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700" b="1" i="0">
                <a:solidFill>
                  <a:srgbClr val="1A1614"/>
                </a:solidFill>
                <a:latin typeface="Helvetica Neue"/>
              </a:rPr>
              <a:t>A scraper that fails </a:t>
            </a:r>
            <a:r>
              <a:rPr sz="2700" b="1" i="1">
                <a:solidFill>
                  <a:srgbClr val="1A1614"/>
                </a:solidFill>
                <a:latin typeface="Helvetica Neue"/>
              </a:rPr>
              <a:t>plausibly</a:t>
            </a:r>
            <a:r>
              <a:rPr sz="2700" b="1" i="0">
                <a:solidFill>
                  <a:srgbClr val="1A1614"/>
                </a:solidFill>
                <a:latin typeface="Helvetica Neue"/>
              </a:rPr>
              <a:t> sends your application to the wrong company.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697480"/>
            <a:ext cx="5236311" cy="2697480"/>
          </a:xfrm>
          <a:prstGeom prst="roundRect">
            <a:avLst>
              <a:gd name="adj" fmla="val 7000"/>
            </a:avLst>
          </a:prstGeom>
          <a:solidFill>
            <a:srgbClr val="FDF4F2"/>
          </a:solidFill>
          <a:ln w="12700">
            <a:solidFill>
              <a:srgbClr val="F3D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2916936"/>
            <a:ext cx="1874519" cy="256032"/>
          </a:xfrm>
          <a:prstGeom prst="roundRect">
            <a:avLst>
              <a:gd name="adj" fmla="val 50000"/>
            </a:avLst>
          </a:prstGeom>
          <a:solidFill>
            <a:srgbClr val="FB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95808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050" b="1" i="0">
                <a:solidFill>
                  <a:srgbClr val="C8402C"/>
                </a:solidFill>
                <a:latin typeface="Helvetica Neue"/>
              </a:rPr>
              <a:t>What actually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74136"/>
            <a:ext cx="4797399" cy="1828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The Scraper Studio collector was built against Greenhouse. Pointed at Lever and Ashby — unfamiliar layouts — it did </a:t>
            </a:r>
            <a:r>
              <a:rPr sz="1250" b="1" i="0">
                <a:solidFill>
                  <a:srgbClr val="1A1614"/>
                </a:solidFill>
                <a:latin typeface="Helvetica Neue"/>
              </a:rPr>
              <a:t>not</a:t>
            </a:r>
            <a:r>
              <a:rPr sz="1250" b="0" i="0">
                <a:solidFill>
                  <a:srgbClr val="6B625C"/>
                </a:solidFill>
                <a:latin typeface="Helvetica Neue"/>
              </a:rPr>
              <a:t> return empty fields.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It returned </a:t>
            </a:r>
            <a:r>
              <a:rPr sz="1250" b="1" i="0">
                <a:solidFill>
                  <a:srgbClr val="1A1614"/>
                </a:solidFill>
                <a:latin typeface="Helvetica Neue"/>
              </a:rPr>
              <a:t>the training company's name</a:t>
            </a:r>
            <a:r>
              <a:rPr sz="1250" b="0" i="0">
                <a:solidFill>
                  <a:srgbClr val="6B625C"/>
                </a:solidFill>
                <a:latin typeface="Helvetica Neue"/>
              </a:rPr>
              <a:t>, every time, with the record otherwise perfectly well-formed. The app happily generated letters addressed to the wrong employer.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697480"/>
            <a:ext cx="5236311" cy="2697480"/>
          </a:xfrm>
          <a:prstGeom prst="roundRect">
            <a:avLst>
              <a:gd name="adj" fmla="val 7000"/>
            </a:avLst>
          </a:prstGeom>
          <a:solidFill>
            <a:srgbClr val="F4FAF6"/>
          </a:solidFill>
          <a:ln w="12700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52463" y="2916936"/>
            <a:ext cx="2697479" cy="256032"/>
          </a:xfrm>
          <a:prstGeom prst="roundRect">
            <a:avLst>
              <a:gd name="adj" fmla="val 50000"/>
            </a:avLst>
          </a:prstGeom>
          <a:solidFill>
            <a:srgbClr val="E4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958084"/>
            <a:ext cx="2697479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050" b="1" i="0">
                <a:solidFill>
                  <a:srgbClr val="2F8F5B"/>
                </a:solidFill>
                <a:latin typeface="Helvetica Neue"/>
              </a:rPr>
              <a:t>The fix — at the 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374136"/>
            <a:ext cx="4797399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Self-healing does not catch this, because from the collector's point of view nothing is broken. It found a company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2463" y="3995928"/>
            <a:ext cx="4797399" cy="841248"/>
          </a:xfrm>
          <a:prstGeom prst="roundRect">
            <a:avLst>
              <a:gd name="adj" fmla="val 7000"/>
            </a:avLst>
          </a:prstGeom>
          <a:solidFill>
            <a:srgbClr val="2A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5343" y="4142232"/>
            <a:ext cx="443163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>
                <a:solidFill>
                  <a:srgbClr val="9C8D82"/>
                </a:solidFill>
                <a:latin typeface="Menlo"/>
              </a:rPr>
              <a:t># collectors/router.py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F7A34B"/>
                </a:solidFill>
                <a:latin typeface="Menlo"/>
              </a:rPr>
              <a:t>if not</a:t>
            </a:r>
            <a:r>
              <a:rPr sz="1000">
                <a:solidFill>
                  <a:srgbClr val="F0E6DE"/>
                </a:solidFill>
                <a:latin typeface="Menlo"/>
              </a:rPr>
              <a:t> posting.role_title:</a:t>
            </a:r>
          </a:p>
          <a:p>
            <a:pPr>
              <a:lnSpc>
                <a:spcPct val="150000"/>
              </a:lnSpc>
            </a:pPr>
            <a:r>
              <a:rPr sz="1000">
                <a:solidFill>
                  <a:srgbClr val="F7A34B"/>
                </a:solidFill>
                <a:latin typeface="Menlo"/>
              </a:rPr>
              <a:t>    raise</a:t>
            </a:r>
            <a:r>
              <a:rPr sz="1000">
                <a:solidFill>
                  <a:srgbClr val="F0E6DE"/>
                </a:solidFill>
                <a:latin typeface="Menlo"/>
              </a:rPr>
              <a:t> BrightDataError(...)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463" y="4965192"/>
            <a:ext cx="4797399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Treat a missing role title as proof the scrape did not land.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5715000"/>
            <a:ext cx="31750" cy="512064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715000"/>
            <a:ext cx="10618927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This is the moat in miniature. Anyone can call an LLM. The durable asset is a validated acquisition layer that knows when it is wrong — and a body of hard-won knowledge about how job boards fail.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Three collection paths, on purpose. One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6B625C"/>
                </a:solidFill>
                <a:latin typeface="Helvetica Neue"/>
              </a:rPr>
              <a:t>The router picks a path per URL. Everything downstream is path-agnostic, so adding a board is additive, never a rewrite.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" y="2514600"/>
          <a:ext cx="10746943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834640"/>
                <a:gridCol w="6083503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URL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WHY THIS PATH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A1614"/>
                          </a:solidFill>
                          <a:latin typeface="Helvetica Neue"/>
                        </a:rPr>
                        <a:t>linkedin.com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Prebuilt LinkedIn Jobs dataset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LinkedIn is aggressively hostile to generic scraping and requires a session for most postings. The prebuilt dataset returns a fixed schema synchronously.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A1614"/>
                          </a:solidFill>
                          <a:latin typeface="Helvetica Neue"/>
                        </a:rPr>
                        <a:t>join.com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schema.org JobPosting collector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join.com renders client-side, so a generic collector reads nothing. Every posting ships a structured JSON-LD block — exact, and stable across layout changes.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1">
                          <a:solidFill>
                            <a:srgbClr val="1A1614"/>
                          </a:solidFill>
                          <a:latin typeface="Helvetica Neue"/>
                        </a:rPr>
                        <a:t>everything else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Bright Data Scraper Studio collector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50" b="0">
                          <a:solidFill>
                            <a:srgbClr val="6B625C"/>
                          </a:solidFill>
                          <a:latin typeface="Helvetica Neue"/>
                        </a:rPr>
                        <a:t>Fields are defined in plain language, not CSS selectors, so the collector can be repaired in place when a site's layout shifts.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" y="5138928"/>
            <a:ext cx="250842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5340096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5596128"/>
            <a:ext cx="2106091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Next.js 16, Tailwind v4, client-side PDF +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8547" y="5138928"/>
            <a:ext cx="250842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9715" y="5340096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715" y="5596128"/>
            <a:ext cx="2106091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FastAPI, httpx, pydantic, concurrent scrapes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5138928"/>
            <a:ext cx="250842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5340096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5596128"/>
            <a:ext cx="2106091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Bright Data Scraper Studio + prebuilt datasets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0891" y="5138928"/>
            <a:ext cx="2508427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059" y="5340096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059" y="5596128"/>
            <a:ext cx="2106091" cy="3931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Vercel + Railway, live in production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Three layers, cheapest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6B625C"/>
                </a:solidFill>
                <a:latin typeface="Helvetica Neue"/>
              </a:rPr>
              <a:t>Scraping is not a one-time build. It is a maintenance liability, and the architecture is designed around that 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487168"/>
            <a:ext cx="3423818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688336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9A918B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17925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Plain-language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528821"/>
            <a:ext cx="3021482" cy="7231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Extraction is driven by what a field means ("the job title for this posting"), not by a selector. A renamed CSS class does not silently produce empty strings.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487168"/>
            <a:ext cx="3423818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106" y="2688336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9A918B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3217925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Automated healing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06" y="3528821"/>
            <a:ext cx="3021482" cy="7231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bdata scraper heal repairs the collector against the live page when extraction genuinely regresses — no hand-written selectors to rewrite.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5500" y="2487168"/>
            <a:ext cx="3423818" cy="196596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0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6668" y="2688336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6668" y="3217925"/>
            <a:ext cx="3021482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Guard against being confidently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6668" y="3528821"/>
            <a:ext cx="3021482" cy="72313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The one that matters. Validate that what came back is actually about the page you asked for — and refuse when it is 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572000"/>
            <a:ext cx="5236311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1A1614"/>
                </a:solidFill>
                <a:latin typeface="Helvetica Neue"/>
              </a:rPr>
              <a:t>Three run statuses, reported honestly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9560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4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99719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050" b="1" i="0">
                <a:solidFill>
                  <a:srgbClr val="2F8F5B"/>
                </a:solidFill>
                <a:latin typeface="Helvetica Neue"/>
              </a:rPr>
              <a:t>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83480"/>
            <a:ext cx="4276191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every expected field came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534009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38124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050" b="1" i="0">
                <a:solidFill>
                  <a:srgbClr val="9A6510"/>
                </a:solidFill>
                <a:latin typeface="Helvetica Neue"/>
              </a:rP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67528"/>
            <a:ext cx="4276191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the scrape landed, some fields were absent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572414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B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76529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050" b="1" i="0">
                <a:solidFill>
                  <a:srgbClr val="C8402C"/>
                </a:solidFill>
                <a:latin typeface="Helvetica Neue"/>
              </a:rPr>
              <a:t>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51576"/>
            <a:ext cx="4276191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nothing usable came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007" y="4572000"/>
            <a:ext cx="5236311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1A1614"/>
                </a:solidFill>
                <a:latin typeface="Helvetica Neue"/>
              </a:rPr>
              <a:t>What we refuse to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3007" y="4956048"/>
            <a:ext cx="5236311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Unsupported boards are rejected with a clear message rather than silently mis-scraped. Company context is optional and off by default, because it is unreliable on JS-heavy marketing sites. When it returns noise, the letter is written from the posting and CV alone rather than absorbing nonsense.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900" b="1" i="0">
                <a:solidFill>
                  <a:srgbClr val="1A1614"/>
                </a:solidFill>
                <a:latin typeface="Helvetica Neue"/>
              </a:rPr>
              <a:t>Bottom-up, from applications actually written.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29116" y="548640"/>
            <a:ext cx="2540203" cy="256032"/>
          </a:xfrm>
          <a:prstGeom prst="roundRect">
            <a:avLst>
              <a:gd name="adj" fmla="val 3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29116" y="598932"/>
            <a:ext cx="2540203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1" i="0" spc="100">
                <a:solidFill>
                  <a:srgbClr val="9A6510"/>
                </a:solidFill>
                <a:latin typeface="Helvetica Neue"/>
              </a:rPr>
              <a:t>MODELLED — ASSUMPTIONS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Sized from applicant behaviour rather than from a top-down "HR tech is $30B" number, so every input below can be argued with individually.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606040"/>
            <a:ext cx="342381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8072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632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$2.4B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592829"/>
            <a:ext cx="3021482" cy="64084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~400M white-collar job seekers globally × ~$6/yr blended willingness-to-pay for application tooling.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606040"/>
            <a:ext cx="342381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5106" y="28072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106" y="30632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$310M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106" y="3592829"/>
            <a:ext cx="3021482" cy="64084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~26M active seekers in EU + UK + North America who apply through the supported boards, at ~$12/yr realised.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5500" y="2606040"/>
            <a:ext cx="3423818" cy="182880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0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6668" y="280720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SOM — 3 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6668" y="306324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$4.6M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6668" y="3592829"/>
            <a:ext cx="3021482" cy="64084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1.5% of SAM. ~32k paying users at $144/yr (see pricing), reached via the free tier already 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4572000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1A1614"/>
                </a:solidFill>
                <a:latin typeface="Helvetica Neue"/>
              </a:rPr>
              <a:t>Why the beachhead is German-language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956048"/>
            <a:ext cx="3423818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 i="0">
                <a:solidFill>
                  <a:srgbClr val="1A1614"/>
                </a:solidFill>
                <a:latin typeface="Helvetica Neue"/>
              </a:rPr>
              <a:t>DIN 5008 is a real barrier.</a:t>
            </a:r>
            <a:r>
              <a:rPr sz="1200" b="0" i="0">
                <a:solidFill>
                  <a:srgbClr val="6B625C"/>
                </a:solidFill>
                <a:latin typeface="Helvetica Neue"/>
              </a:rPr>
              <a:t> German applications have a formal layout standard. Generic tools output an American business letter, which reads as wrong to a German recruiter.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3938" y="4956048"/>
            <a:ext cx="3423818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 i="0">
                <a:solidFill>
                  <a:srgbClr val="1A1614"/>
                </a:solidFill>
                <a:latin typeface="Helvetica Neue"/>
              </a:rPr>
              <a:t>Language matching is non-trivial.</a:t>
            </a:r>
            <a:r>
              <a:rPr sz="1200" b="0" i="0">
                <a:solidFill>
                  <a:srgbClr val="6B625C"/>
                </a:solidFill>
                <a:latin typeface="Helvetica Neue"/>
              </a:rPr>
              <a:t> A German posting needs a German Anschreiben with the right conventions, not a translation. Already shipped.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5500" y="4956048"/>
            <a:ext cx="3423818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 i="0">
                <a:solidFill>
                  <a:srgbClr val="1A1614"/>
                </a:solidFill>
                <a:latin typeface="Helvetica Neue"/>
              </a:rPr>
              <a:t>join.com is a DACH board.</a:t>
            </a:r>
            <a:r>
              <a:rPr sz="1200" b="0" i="0">
                <a:solidFill>
                  <a:srgbClr val="6B625C"/>
                </a:solidFill>
                <a:latin typeface="Helvetica Neue"/>
              </a:rPr>
              <a:t> Supporting it is a deliberate wedge into a market the US-built incumbents ignore.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629107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All figures are modelled from public population and pricing anchors, not from observed revenue. The product currently has no paid tier.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Cost per letter, from the real call 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53982" y="548640"/>
            <a:ext cx="2015337" cy="256032"/>
          </a:xfrm>
          <a:prstGeom prst="roundRect">
            <a:avLst>
              <a:gd name="adj" fmla="val 3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53982" y="598932"/>
            <a:ext cx="2015337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1" i="0" spc="100">
                <a:solidFill>
                  <a:srgbClr val="9A6510"/>
                </a:solidFill>
                <a:latin typeface="Helvetica Neue"/>
              </a:rPr>
              <a:t>MODELLED — LIST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One letter = one scrape + one LLM draft. Both are metered, both are small, and the PDF is rendered client-side at zero marginal cost.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" y="2606040"/>
          <a:ext cx="50292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COST COMPONENT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PER LETTER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Bright Data scrape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sz="1050">
                          <a:solidFill>
                            <a:srgbClr val="9A918B"/>
                          </a:solidFill>
                          <a:latin typeface="Helvetica Neue"/>
                        </a:rPr>
                        <a:t>1 collector run or dataset call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$0.0060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LLM draft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sz="1050">
                          <a:solidFill>
                            <a:srgbClr val="9A918B"/>
                          </a:solidFill>
                          <a:latin typeface="Helvetica Neue"/>
                        </a:rPr>
                        <a:t>~4k in / ~700 out, JSON mode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$0.0100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CV parse + PDF render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sz="1050">
                          <a:solidFill>
                            <a:srgbClr val="9A918B"/>
                          </a:solidFill>
                          <a:latin typeface="Helvetica Neue"/>
                        </a:rPr>
                        <a:t>server CPU + client-side jsPDF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$0.0004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Marginal COGS</a:t>
                      </a:r>
                    </a:p>
                  </a:txBody>
                  <a:tcPr marL="54864" marR="54864" marT="45720" marB="45720" anchor="t">
                    <a:noFill/>
                    <a:lnT w="19050" cap="flat" cmpd="sng" algn="ctr">
                      <a:solidFill>
                        <a:srgbClr val="1A1614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$0.0164</a:t>
                      </a:r>
                    </a:p>
                  </a:txBody>
                  <a:tcPr marL="54864" marR="54864" marT="45720" marB="45720" anchor="t">
                    <a:noFill/>
                    <a:lnT w="19050" cap="flat" cmpd="sng" algn="ctr">
                      <a:solidFill>
                        <a:srgbClr val="1A1614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22376" y="5074920"/>
            <a:ext cx="31750" cy="512064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074920"/>
            <a:ext cx="4901184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Scrape and draft costs are list-price estimates for the current call pattern, not negotiated rates or measured spend.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08776" y="2606040"/>
          <a:ext cx="5260543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0383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UNIT MODEL — PRO TIER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Price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$12 / mo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Letters included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40 / mo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Assumed real usage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14 / mo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COGS at that usage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$0.23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Payment + infra overhead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0">
                          <a:solidFill>
                            <a:srgbClr val="6B625C"/>
                          </a:solidFill>
                          <a:latin typeface="Helvetica Neue"/>
                        </a:rPr>
                        <a:t>$0.72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Gross margin</a:t>
                      </a:r>
                    </a:p>
                  </a:txBody>
                  <a:tcPr marL="54864" marR="54864" marT="45720" marB="45720" anchor="t">
                    <a:noFill/>
                    <a:lnT w="19050" cap="flat" cmpd="sng" algn="ctr">
                      <a:solidFill>
                        <a:srgbClr val="1A1614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35000"/>
                        </a:lnSpc>
                      </a:pPr>
                      <a:r>
                        <a:rPr sz="1200" b="1">
                          <a:solidFill>
                            <a:srgbClr val="1A1614"/>
                          </a:solidFill>
                          <a:latin typeface="Helvetica Neue"/>
                        </a:rPr>
                        <a:t>92%</a:t>
                      </a:r>
                    </a:p>
                  </a:txBody>
                  <a:tcPr marL="54864" marR="54864" marT="45720" marB="45720" anchor="t">
                    <a:noFill/>
                    <a:lnT w="19050" cap="flat" cmpd="sng" algn="ctr">
                      <a:solidFill>
                        <a:srgbClr val="1A1614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08776" y="5193792"/>
            <a:ext cx="1643786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5340096"/>
            <a:ext cx="135117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1" i="0" spc="80">
                <a:solidFill>
                  <a:srgbClr val="9A918B"/>
                </a:solidFill>
                <a:latin typeface="Helvetica Neue"/>
              </a:rPr>
              <a:t>CAC · CONTENT + SEO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596128"/>
            <a:ext cx="1351178" cy="37972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614"/>
                </a:solidFill>
                <a:latin typeface="Helvetica Neue"/>
              </a:rPr>
              <a:t>$18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7154" y="5193792"/>
            <a:ext cx="1643786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3458" y="5340096"/>
            <a:ext cx="135117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1" i="0" spc="80">
                <a:solidFill>
                  <a:srgbClr val="9A918B"/>
                </a:solidFill>
                <a:latin typeface="Helvetica Neue"/>
              </a:rPr>
              <a:t>LIFETIME · SEASONAL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3458" y="5596128"/>
            <a:ext cx="1351178" cy="37972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614"/>
                </a:solidFill>
                <a:latin typeface="Helvetica Neue"/>
              </a:rPr>
              <a:t>5 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5532" y="5193792"/>
            <a:ext cx="1643786" cy="960120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0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1836" y="5340096"/>
            <a:ext cx="135117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1" i="0" spc="80">
                <a:solidFill>
                  <a:srgbClr val="9A918B"/>
                </a:solidFill>
                <a:latin typeface="Helvetica Neue"/>
              </a:rPr>
              <a:t>LTV / CAC · $55 LTV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1836" y="5596128"/>
            <a:ext cx="1351178" cy="37972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4674C"/>
                </a:solidFill>
                <a:latin typeface="Helvetica Neue"/>
              </a:rPr>
              <a:t>3.1×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629107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Churn is structural, not a defect: users leave because they got the job. Re-acquisition on the next search is the retention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Free stays free. The batch is what converts.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9001" y="548640"/>
            <a:ext cx="2090318" cy="256032"/>
          </a:xfrm>
          <a:prstGeom prst="roundRect">
            <a:avLst>
              <a:gd name="adj" fmla="val 3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9001" y="598932"/>
            <a:ext cx="209031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1" i="0" spc="100">
                <a:solidFill>
                  <a:srgbClr val="9A6510"/>
                </a:solidFill>
                <a:latin typeface="Helvetica Neue"/>
              </a:rPr>
              <a:t>PROPOSED — NOT YET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874519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The product is free and account-less today. That is the top of the funnel, not the business model — and it is why the free tier keeps a real, unlimited-feeling allowance.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697480"/>
            <a:ext cx="3423818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89864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15468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84269"/>
            <a:ext cx="3021482" cy="62255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3 letters / month. No account. Full DIN 5008 PDF, no watermark.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681728"/>
            <a:ext cx="302148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Purpose: prove the letter quality is different before asking for anything.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2697480"/>
            <a:ext cx="3423818" cy="1810512"/>
          </a:xfrm>
          <a:prstGeom prst="roundRect">
            <a:avLst>
              <a:gd name="adj" fmla="val 9000"/>
            </a:avLst>
          </a:prstGeom>
          <a:solidFill>
            <a:srgbClr val="FDF6F0"/>
          </a:solidFill>
          <a:ln w="12700">
            <a:solidFill>
              <a:srgbClr val="F0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106" y="289864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PRO — THE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106" y="315468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4674C"/>
                </a:solidFill>
                <a:latin typeface="Helvetica Neue"/>
              </a:rPr>
              <a:t>$12/mo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106" y="3684269"/>
            <a:ext cx="3021482" cy="62255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40 letters, ZIP batching, saved CV profiles, letter history.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4681728"/>
            <a:ext cx="302148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The trigger is volume: the day someone applies to eight roles at once, the ZIP is worth $12.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5500" y="2697480"/>
            <a:ext cx="3423818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6668" y="2898648"/>
            <a:ext cx="302148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CAREERS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6668" y="3154680"/>
            <a:ext cx="3021482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$450/yr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6668" y="3684269"/>
            <a:ext cx="3021482" cy="62255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Per seat, for university and bootcamp career offices. Cohort dashboards.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6668" y="4681728"/>
            <a:ext cx="3021482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Solves the churn problem: the institution renews annually even as students cycle through.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" y="5394960"/>
            <a:ext cx="31750" cy="566928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394960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Why not charge per letter? Per-letter pricing makes users ration the product at exactly the moment it is most useful — a big application push. Subscription pricing aligns with how job searches actually happen: nothing for months, then everything in three weeks.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1A1614"/>
                </a:solidFill>
                <a:latin typeface="Helvetica Neue"/>
              </a:rPr>
              <a:t>Everyone has the LLM.
Almost nobody has the acquisition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2212848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6B625C"/>
                </a:solidFill>
                <a:latin typeface="Helvetica Neue"/>
              </a:rPr>
              <a:t>The differentiator is not letter quality in the abstract. It is that the letter is written from a verified, structured posting instead of from whatever the user managed to paste.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" y="2944368"/>
          <a:ext cx="10746943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011680"/>
                <a:gridCol w="2103120"/>
                <a:gridCol w="4346143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APPROACH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GETS THE POSTING HOW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FAILS HOW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WHERE COVERIT DIFFERS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ChatGPT / Claude direct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User copy-pastes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Silently incomplete input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We scrape the full posting as structured fields, so nothing depends on what the user remembered to paste.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Cover-letter SaaS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sz="1050">
                          <a:solidFill>
                            <a:srgbClr val="9A918B"/>
                          </a:solidFill>
                          <a:latin typeface="Helvetica Neue"/>
                        </a:rPr>
                        <a:t>Teal, Kickresume, et al.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Paste, or a thin URL fetch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Generic US business-letter output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DIN 5008 layout and true language matching — a German posting yields a German Anschreiben.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LinkedIn Easy Apply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Native, no letter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No differentiation at all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We compete on the letter being specific, which is the only part a recruiter reads twice.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Build-it-yourself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Own scraper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Confidently wrong data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The failure mode on slide 06 is invisible until it has already cost someone an application. We built the guard.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" y="5413248"/>
            <a:ext cx="3423818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5577840"/>
            <a:ext cx="3094634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Acquisition breadth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888736"/>
            <a:ext cx="3094634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Three collection paths converging on one schema. Adding a board is additive.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5413248"/>
            <a:ext cx="3423818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8530" y="5577840"/>
            <a:ext cx="3094634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Failure literacy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530" y="5888736"/>
            <a:ext cx="3094634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Per-field run records in production. We know when we are wrong, and we say 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5500" y="5413248"/>
            <a:ext cx="3423818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092" y="5577840"/>
            <a:ext cx="3094634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1A1614"/>
                </a:solidFill>
                <a:latin typeface="Helvetica Neue"/>
              </a:rPr>
              <a:t>Locale 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5888736"/>
            <a:ext cx="3094634" cy="493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DIN 5008 and language matching are shipped, not roadmap.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1074694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100" b="1" i="0">
                <a:solidFill>
                  <a:srgbClr val="1A1614"/>
                </a:solidFill>
                <a:latin typeface="Helvetica Neue"/>
              </a:rPr>
              <a:t>Built and deployed, not a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47088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6B625C"/>
                </a:solidFill>
                <a:latin typeface="Helvetica Neue"/>
              </a:rPr>
              <a:t>Everything below is live in production today. There is no paid tier and no user base yet — that is the honest position, and the next section is what changes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606040"/>
            <a:ext cx="5236311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1A1614"/>
                </a:solidFill>
                <a:latin typeface="Helvetica Neue"/>
              </a:rPr>
              <a:t>Shipped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0723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999232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Three collection paths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LinkedIn (any URL shape), join.com, Greenhouse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493008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419856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Resume parsing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PDF, TXT, Markdown, plus sender-block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9136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840480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Language-matched generation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one letter per job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33425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261104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DIN 5008 PDF output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individual files and ZIP bundling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754880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681728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Editable letters and letterhead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review before download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102352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Collector health tracking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per-field recovery, publicly visible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96128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5522976"/>
            <a:ext cx="5035143" cy="42062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The confident-wrongness guard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— refuses rather than misattributes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06040"/>
            <a:ext cx="5236311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1" i="0">
                <a:solidFill>
                  <a:srgbClr val="1A1614"/>
                </a:solidFill>
                <a:latin typeface="Helvetica Neue"/>
              </a:rPr>
              <a:t>Known limitations — stated, not hidden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0439" y="30723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4175" y="2999232"/>
            <a:ext cx="503514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Three boards supported.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Others are refused with a clear message.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0439" y="3566160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4175" y="3493008"/>
            <a:ext cx="503514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Extraction completeness varies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by layout; incomplete runs report partial.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405993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4175" y="3986784"/>
            <a:ext cx="503514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Contact extraction is regex-based.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Unusual CV layouts may miss a field.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0439" y="45537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4175" y="4480560"/>
            <a:ext cx="503514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Run history is in-memory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and resets on backend restart.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0439" y="5047488"/>
            <a:ext cx="54864" cy="54864"/>
          </a:xfrm>
          <a:prstGeom prst="roundRect">
            <a:avLst>
              <a:gd name="adj" fmla="val 50000"/>
            </a:avLst>
          </a:prstGeom>
          <a:solidFill>
            <a:srgbClr val="F7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4175" y="4974336"/>
            <a:ext cx="503514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>
                <a:solidFill>
                  <a:srgbClr val="1A1614"/>
                </a:solidFill>
                <a:latin typeface="Helvetica Neue"/>
              </a:rPr>
              <a:t>No paid tier, no auth, no user accounts</a:t>
            </a:r>
            <a:r>
              <a:rPr sz="1150" b="0" i="0">
                <a:solidFill>
                  <a:srgbClr val="6B625C"/>
                </a:solidFill>
                <a:latin typeface="Helvetica Neue"/>
              </a:rPr>
              <a:t> yet.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5715000"/>
            <a:ext cx="31750" cy="512064"/>
          </a:xfrm>
          <a:prstGeom prst="rect">
            <a:avLst/>
          </a:prstGeom>
          <a:solidFill>
            <a:srgbClr val="E8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1023" y="5715000"/>
            <a:ext cx="5108295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The health view exposes these anyway. Stating them here is cheaper than being found out.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566928"/>
            <a:ext cx="10746943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 i="0" spc="160">
                <a:solidFill>
                  <a:srgbClr val="F4674C"/>
                </a:solidFill>
                <a:latin typeface="Helvetica Neue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86868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115568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1A1614"/>
                </a:solidFill>
                <a:latin typeface="Helvetica Neue"/>
              </a:rPr>
              <a:t>$400k pre-seed — 18 months to a
proven paid funnel.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03713" y="548640"/>
            <a:ext cx="965606" cy="256032"/>
          </a:xfrm>
          <a:prstGeom prst="roundRect">
            <a:avLst>
              <a:gd name="adj" fmla="val 3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03713" y="598932"/>
            <a:ext cx="965606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1" i="0" spc="100">
                <a:solidFill>
                  <a:srgbClr val="9A6510"/>
                </a:solidFill>
                <a:latin typeface="Helvetica Neue"/>
              </a:rPr>
              <a:t>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286000"/>
            <a:ext cx="859536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6B625C"/>
                </a:solidFill>
                <a:latin typeface="Helvetica Neue"/>
              </a:rPr>
              <a:t>The engineering risk is retired: it works, it is deployed, and the hard failure mode is understood and guarded. What is unproven is willingness to pay. That is what this round buys an answer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971800"/>
            <a:ext cx="250842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172968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429000"/>
            <a:ext cx="2106091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58589"/>
            <a:ext cx="2106091" cy="229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Board coverage 3 → 15, persistent storage, accounts and 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8547" y="2971800"/>
            <a:ext cx="250842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9715" y="3172968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715" y="3429000"/>
            <a:ext cx="2106091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9715" y="3958589"/>
            <a:ext cx="2106091" cy="229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Content and board SEO against the CAC assumption on slide 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2971800"/>
            <a:ext cx="250842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3172968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INFRA +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429000"/>
            <a:ext cx="2106091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958589"/>
            <a:ext cx="2106091" cy="229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Bright Data and LLM spend at 10× current volume.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0891" y="2971800"/>
            <a:ext cx="2508427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059" y="3172968"/>
            <a:ext cx="2106091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RESERVE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059" y="3429000"/>
            <a:ext cx="2106091" cy="438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614"/>
                </a:solidFill>
                <a:latin typeface="Helvetica Neue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059" y="3958589"/>
            <a:ext cx="2106091" cy="229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B625C"/>
                </a:solidFill>
                <a:latin typeface="Helvetica Neue"/>
              </a:rPr>
              <a:t>Runway buffer past the 18-month mark.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22376" y="4617720"/>
          <a:ext cx="10746943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3108960"/>
                <a:gridCol w="5992063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MILESTONE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spc="90">
                          <a:solidFill>
                            <a:srgbClr val="9A918B"/>
                          </a:solidFill>
                          <a:latin typeface="Helvetica Neue"/>
                        </a:rPr>
                        <a:t>WHAT IT PROVES</a:t>
                      </a:r>
                    </a:p>
                  </a:txBody>
                  <a:tcPr marL="54864" marR="54864" marT="0" marB="0" anchor="b">
                    <a:noFill/>
                    <a:lnB w="15875" cap="flat" cmpd="sng" algn="ctr">
                      <a:solidFill>
                        <a:srgbClr val="E8E0DA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Month 3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Accounts, billing, 15 job boards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The acquisition layer generalises beyond the three boards it was built against.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Month 6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1,000 paying users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The $12 price point clears against a genuinely useful free tier.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Month 12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First 10 careers-services contracts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The institutional channel solves structural churn.</a:t>
                      </a:r>
                    </a:p>
                  </a:txBody>
                  <a:tcPr marL="54864" marR="54864" marT="45720" marB="45720" anchor="t">
                    <a:noFill/>
                    <a:lnB w="9525" cap="flat" cmpd="sng" algn="ctr">
                      <a:solidFill>
                        <a:srgbClr val="F2ECE7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1">
                          <a:solidFill>
                            <a:srgbClr val="1A1614"/>
                          </a:solidFill>
                          <a:latin typeface="Helvetica Neue"/>
                        </a:rPr>
                        <a:t>Month 18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$45k MRR, LTV/CAC ≥ 3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sz="1100" b="0">
                          <a:solidFill>
                            <a:srgbClr val="6B625C"/>
                          </a:solidFill>
                          <a:latin typeface="Helvetica Neue"/>
                        </a:rPr>
                        <a:t>The unit model on slide 10 survives contact with real users.</a:t>
                      </a:r>
                    </a:p>
                  </a:txBody>
                  <a:tcPr marL="54864" marR="54864" marT="45720" marB="45720" anchor="t">
                    <a:noFill/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" y="1371600"/>
            <a:ext cx="512064" cy="38100"/>
          </a:xfrm>
          <a:prstGeom prst="rect">
            <a:avLst/>
          </a:prstGeom>
          <a:solidFill>
            <a:srgbClr val="F4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783080"/>
            <a:ext cx="932688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800" b="1" i="0">
                <a:solidFill>
                  <a:srgbClr val="1A1614"/>
                </a:solidFill>
                <a:latin typeface="Helvetica Neue"/>
              </a:rPr>
              <a:t>The writing was never the hard part.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800" b="1" i="0">
                <a:solidFill>
                  <a:srgbClr val="1A1614"/>
                </a:solidFill>
                <a:latin typeface="Helvetica Neue"/>
              </a:rPr>
              <a:t>Knowing the posting is </a:t>
            </a:r>
            <a:r>
              <a:rPr sz="3800" b="1" i="1">
                <a:solidFill>
                  <a:srgbClr val="1A1614"/>
                </a:solidFill>
                <a:latin typeface="Helvetica Neue"/>
              </a:rPr>
              <a:t>real</a:t>
            </a:r>
            <a:r>
              <a:rPr sz="3800" b="1" i="0">
                <a:solidFill>
                  <a:srgbClr val="1A1614"/>
                </a:solidFill>
                <a:latin typeface="Helvetica Neue"/>
              </a:rPr>
              <a:t>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33756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6B625C"/>
                </a:solidFill>
                <a:latin typeface="Helvetica Neue"/>
              </a:rPr>
              <a:t>Coverit is a validated job-posting acquisition layer with a cover-letter product on top. The letter is what users buy. The acquisition layer is what competitors cannot copy from a screenshot.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4526280"/>
            <a:ext cx="3423818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709160"/>
            <a:ext cx="305805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LIVE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49834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coveritt.vercel.app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4526280"/>
            <a:ext cx="3423818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4709160"/>
            <a:ext cx="305805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COLLECTOR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49834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/health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5500" y="4526280"/>
            <a:ext cx="3423818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8380" y="4709160"/>
            <a:ext cx="305805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1" i="0" spc="80">
                <a:solidFill>
                  <a:srgbClr val="9A918B"/>
                </a:solidFill>
                <a:latin typeface="Helvetica Neue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8380" y="49834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1" i="0">
                <a:solidFill>
                  <a:srgbClr val="1A1614"/>
                </a:solidFill>
                <a:latin typeface="Helvetica Neue"/>
              </a:rPr>
              <a:t>github.com/karankartikeya/cvsmart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5806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9A918B"/>
                </a:solidFill>
                <a:latin typeface="Helvetica Neue"/>
              </a:rPr>
              <a:t>Built for Into the Scrape-Verse · WeMakeDevs × Bright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A918B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